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6"/>
  </p:sldMasterIdLst>
  <p:sldIdLst>
    <p:sldId id="256" r:id="rId7"/>
    <p:sldId id="262" r:id="rId8"/>
    <p:sldId id="264" r:id="rId9"/>
    <p:sldId id="261" r:id="rId10"/>
    <p:sldId id="266" r:id="rId11"/>
    <p:sldId id="258" r:id="rId12"/>
    <p:sldId id="259" r:id="rId13"/>
    <p:sldId id="263" r:id="rId14"/>
    <p:sldId id="257" r:id="rId15"/>
    <p:sldId id="260" r:id="rId16"/>
    <p:sldId id="265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D437E28-F7DC-6CAD-A237-1B6A5E0B5B05}" name="Fernanda" initials="S" userId="Fernanda" providerId="None"/>
  <p188:author id="{DC55BB9E-B82C-A035-C8F8-B7833722A48C}" name="SAENZ UMANA , PAULA" initials="" userId="S::PSAENZUMANA@iadb.org::5fc4f87d-8052-40f2-83c3-d35094cf81a8" providerId="AD"/>
  <p188:author id="{DF7AEECB-A5D7-A6C5-EC49-5DC9932AE26B}" name="Rivera Orozco, Maria Fernanda" initials="RF" userId="S::mfrivera@iadb.org::17a351e6-d160-4829-a2f2-e686d12b79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microsoft.com/office/2018/10/relationships/authors" Target="authors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vera Orozco, Maria Fernanda" userId="17a351e6-d160-4829-a2f2-e686d12b79b2" providerId="ADAL" clId="{AAFACA35-FE63-44AC-B109-2F96BFD685F5}"/>
    <pc:docChg chg="custSel addSld modSld sldOrd">
      <pc:chgData name="Rivera Orozco, Maria Fernanda" userId="17a351e6-d160-4829-a2f2-e686d12b79b2" providerId="ADAL" clId="{AAFACA35-FE63-44AC-B109-2F96BFD685F5}" dt="2026-06-24T13:33:13.111" v="144" actId="478"/>
      <pc:docMkLst>
        <pc:docMk/>
      </pc:docMkLst>
      <pc:sldChg chg="modSp mod">
        <pc:chgData name="Rivera Orozco, Maria Fernanda" userId="17a351e6-d160-4829-a2f2-e686d12b79b2" providerId="ADAL" clId="{AAFACA35-FE63-44AC-B109-2F96BFD685F5}" dt="2026-06-24T13:32:15.339" v="139" actId="20577"/>
        <pc:sldMkLst>
          <pc:docMk/>
          <pc:sldMk cId="1251726491" sldId="256"/>
        </pc:sldMkLst>
        <pc:spChg chg="mod">
          <ac:chgData name="Rivera Orozco, Maria Fernanda" userId="17a351e6-d160-4829-a2f2-e686d12b79b2" providerId="ADAL" clId="{AAFACA35-FE63-44AC-B109-2F96BFD685F5}" dt="2026-06-24T13:32:15.339" v="139" actId="20577"/>
          <ac:spMkLst>
            <pc:docMk/>
            <pc:sldMk cId="1251726491" sldId="256"/>
            <ac:spMk id="6" creationId="{8576602C-FF8B-818F-4DBF-898ABBD4472A}"/>
          </ac:spMkLst>
        </pc:spChg>
      </pc:sldChg>
      <pc:sldChg chg="addSp delSp modSp mod">
        <pc:chgData name="Rivera Orozco, Maria Fernanda" userId="17a351e6-d160-4829-a2f2-e686d12b79b2" providerId="ADAL" clId="{AAFACA35-FE63-44AC-B109-2F96BFD685F5}" dt="2026-05-26T12:41:00.085" v="122" actId="14826"/>
        <pc:sldMkLst>
          <pc:docMk/>
          <pc:sldMk cId="644397541" sldId="261"/>
        </pc:sldMkLst>
        <pc:spChg chg="mod">
          <ac:chgData name="Rivera Orozco, Maria Fernanda" userId="17a351e6-d160-4829-a2f2-e686d12b79b2" providerId="ADAL" clId="{AAFACA35-FE63-44AC-B109-2F96BFD685F5}" dt="2026-05-26T12:39:39.236" v="119" actId="20577"/>
          <ac:spMkLst>
            <pc:docMk/>
            <pc:sldMk cId="644397541" sldId="261"/>
            <ac:spMk id="2" creationId="{8F62E22B-0146-F05E-2B64-39C4DDE04F08}"/>
          </ac:spMkLst>
        </pc:spChg>
        <pc:picChg chg="add mod">
          <ac:chgData name="Rivera Orozco, Maria Fernanda" userId="17a351e6-d160-4829-a2f2-e686d12b79b2" providerId="ADAL" clId="{AAFACA35-FE63-44AC-B109-2F96BFD685F5}" dt="2026-05-26T12:41:00.085" v="122" actId="14826"/>
          <ac:picMkLst>
            <pc:docMk/>
            <pc:sldMk cId="644397541" sldId="261"/>
            <ac:picMk id="4" creationId="{14429770-AF18-2DB5-F802-6B9F45A9DFD8}"/>
          </ac:picMkLst>
        </pc:picChg>
      </pc:sldChg>
      <pc:sldChg chg="delSp mod ord modShow">
        <pc:chgData name="Rivera Orozco, Maria Fernanda" userId="17a351e6-d160-4829-a2f2-e686d12b79b2" providerId="ADAL" clId="{AAFACA35-FE63-44AC-B109-2F96BFD685F5}" dt="2026-06-24T13:33:13.111" v="144" actId="478"/>
        <pc:sldMkLst>
          <pc:docMk/>
          <pc:sldMk cId="1798689952" sldId="262"/>
        </pc:sldMkLst>
        <pc:spChg chg="del">
          <ac:chgData name="Rivera Orozco, Maria Fernanda" userId="17a351e6-d160-4829-a2f2-e686d12b79b2" providerId="ADAL" clId="{AAFACA35-FE63-44AC-B109-2F96BFD685F5}" dt="2026-06-24T13:33:13.111" v="144" actId="478"/>
          <ac:spMkLst>
            <pc:docMk/>
            <pc:sldMk cId="1798689952" sldId="262"/>
            <ac:spMk id="2" creationId="{795FAFF3-CFB3-38D9-E245-9579D02B1ADF}"/>
          </ac:spMkLst>
        </pc:spChg>
      </pc:sldChg>
      <pc:sldChg chg="mod modShow">
        <pc:chgData name="Rivera Orozco, Maria Fernanda" userId="17a351e6-d160-4829-a2f2-e686d12b79b2" providerId="ADAL" clId="{AAFACA35-FE63-44AC-B109-2F96BFD685F5}" dt="2026-06-24T13:32:51.416" v="141" actId="729"/>
        <pc:sldMkLst>
          <pc:docMk/>
          <pc:sldMk cId="2193809566" sldId="264"/>
        </pc:sldMkLst>
      </pc:sldChg>
      <pc:sldChg chg="addSp modSp add mod ord modShow">
        <pc:chgData name="Rivera Orozco, Maria Fernanda" userId="17a351e6-d160-4829-a2f2-e686d12b79b2" providerId="ADAL" clId="{AAFACA35-FE63-44AC-B109-2F96BFD685F5}" dt="2026-05-26T12:39:00.085" v="112" actId="729"/>
        <pc:sldMkLst>
          <pc:docMk/>
          <pc:sldMk cId="1691881553" sldId="265"/>
        </pc:sldMkLst>
        <pc:spChg chg="add mod">
          <ac:chgData name="Rivera Orozco, Maria Fernanda" userId="17a351e6-d160-4829-a2f2-e686d12b79b2" providerId="ADAL" clId="{AAFACA35-FE63-44AC-B109-2F96BFD685F5}" dt="2026-05-26T12:38:36.468" v="108" actId="20577"/>
          <ac:spMkLst>
            <pc:docMk/>
            <pc:sldMk cId="1691881553" sldId="265"/>
            <ac:spMk id="4" creationId="{6AE2A01D-FCDF-33A3-9CF2-E5DE18598EAE}"/>
          </ac:spMkLst>
        </pc:spChg>
      </pc:sldChg>
      <pc:sldChg chg="add">
        <pc:chgData name="Rivera Orozco, Maria Fernanda" userId="17a351e6-d160-4829-a2f2-e686d12b79b2" providerId="ADAL" clId="{AAFACA35-FE63-44AC-B109-2F96BFD685F5}" dt="2026-05-26T12:39:33.335" v="113" actId="2890"/>
        <pc:sldMkLst>
          <pc:docMk/>
          <pc:sldMk cId="4293895847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2B3D4-7DE8-03DE-5F13-51038A7BE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C9147E-34DA-1E46-6CB6-CCB17B4EB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565323-4114-A994-9B14-40E53FE6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1D2ED-82F3-A449-9A73-BA8A10C43236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06760E-5EAE-A1E2-1CE4-B308D573C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5A48D7-580C-2507-88B3-0F2E22833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33EB-E491-C24B-9FD3-144E43708B6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624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47DD5-DF6C-8D3A-D348-5241BA899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9A71C0-562B-27E7-38F7-608C1DBD7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3D55CE-8BF7-05B5-96EC-7E548AF06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1D2ED-82F3-A449-9A73-BA8A10C43236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60EACE-ED8F-905C-254F-AB6B01D5E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711291-AE5A-6644-9A01-B70556CA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33EB-E491-C24B-9FD3-144E43708B6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6114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03ED1-B089-59C8-F00D-81F38C8DC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948313-D24F-AAF7-CB89-558FB67FC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B159F8-5061-3D7D-7EBE-29D4F2853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1D2ED-82F3-A449-9A73-BA8A10C43236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4F4540-F7FD-93FE-94A8-A85833D5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EB2793-92B5-DBCF-C2B1-FB18582F9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33EB-E491-C24B-9FD3-144E43708B6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6387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6FF46-9AA3-F1A4-808F-6B891475B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F6AB16-FB92-2944-82DA-1D887C9B0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A3571E-3388-4FF5-AD98-205A9C0B9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D97806-075F-7B27-C7BB-8DFD9463C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1D2ED-82F3-A449-9A73-BA8A10C43236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1AAE72-92D6-1C07-9A6D-57D96718E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B2D52F-581A-C0C7-E769-645F115B7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33EB-E491-C24B-9FD3-144E43708B6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9509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B381B-2A12-187A-E93A-BD100E77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53FE52-7048-15EF-E4D4-2BEDD5725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BB49B5-31D0-7D7D-CAEE-462CE6F76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B9C9AB8-F8AD-F536-8CF8-D29A81AABD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F0818B8-0197-B95B-37D8-5741753AB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FE2EEF-9BD1-D43F-3211-7A061F49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1D2ED-82F3-A449-9A73-BA8A10C43236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475FC3A-DA8D-C9B0-D32A-1F268188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F15EBB-D874-45C7-1CB5-7AAF9B31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33EB-E491-C24B-9FD3-144E43708B6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459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25718-2B4E-DCEB-A3B0-9DC48508E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426EE9A-5AE1-A6F5-F28C-B47C27402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1D2ED-82F3-A449-9A73-BA8A10C43236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CAC3F6C-10A2-442C-7A02-312157E0E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0851797-5006-0534-F340-586024353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33EB-E491-C24B-9FD3-144E43708B6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85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7263489-09F9-F553-C04D-413FA404F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1D2ED-82F3-A449-9A73-BA8A10C43236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3091C43-D68D-D5D2-0CA8-04160076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51ED7A-84CD-2176-65E1-D880B1E79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33EB-E491-C24B-9FD3-144E43708B6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2216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09BD0-04FC-734E-8A70-6332858EA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43F81F-A8D7-CE1B-DA3A-F495C14EC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8B2F4C-26AD-52A6-0FD9-FAEEFFEDF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74F1CE-7E85-EBB4-240B-45C23B035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1D2ED-82F3-A449-9A73-BA8A10C43236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095190-F384-7A2B-AACD-8B250102B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D31479-4067-0933-708B-D0A912998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33EB-E491-C24B-9FD3-144E43708B6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7361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58EF1E-D58F-1F20-A8F6-DFD7C71E4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7A81E2-B1AA-F60C-9D59-5BD7696DE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D1D6D7C-83FB-B29D-1D23-F2C24FF1D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0F5588-417F-4703-49DD-9CEE7EA9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1D2ED-82F3-A449-9A73-BA8A10C43236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EF1B3C-1060-70F6-D8E5-53435A51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300678-B826-CB99-7EE6-BC8C3731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33EB-E491-C24B-9FD3-144E43708B6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176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6022DE-79BC-CF09-C808-A00B8F92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CB3624B-DB83-ADFE-6E1F-F38C0C2FB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9247ED-9178-BA56-5409-C316F017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1D2ED-82F3-A449-9A73-BA8A10C43236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D8FC1B-3110-6912-FC1D-D2ADF4028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2E36FB-715D-CEEC-222F-76B22A08B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33EB-E491-C24B-9FD3-144E43708B6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2818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771A5F-909E-0B54-6F9F-B1CBEF8EF4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96753D-4B24-C989-09B1-C9CF613F3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5284BB-4472-CE48-F394-0C925D38B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1D2ED-82F3-A449-9A73-BA8A10C43236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F252D5-7D60-2FA6-1D42-DE0100B6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EB05B4-8AC3-A217-3B8A-0A244412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33EB-E491-C24B-9FD3-144E43708B6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504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DC2A137-E51B-544A-31A5-9B8C8E3CB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62F2D7-A701-E49A-3680-756049E6F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54C1E3-BF3B-F795-7EC2-94AF4808C2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F1D2ED-82F3-A449-9A73-BA8A10C43236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296E84-5544-514D-5567-6967C6EDC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3FBD3B-5680-B9DB-3CA8-1D72B9DEA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733EB-E491-C24B-9FD3-144E43708B6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4095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C386470-2902-0899-428D-7C2436180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661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576602C-FF8B-818F-4DBF-898ABBD4472A}"/>
              </a:ext>
            </a:extLst>
          </p:cNvPr>
          <p:cNvSpPr txBox="1"/>
          <p:nvPr/>
        </p:nvSpPr>
        <p:spPr>
          <a:xfrm>
            <a:off x="955706" y="1855416"/>
            <a:ext cx="9995323" cy="16289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Do CCT Programs Really (Reduce) Mortality: </a:t>
            </a:r>
          </a:p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10 Year Evidence of Mexico</a:t>
            </a:r>
          </a:p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solidFill>
                  <a:schemeClr val="bg2"/>
                </a:solidFill>
                <a:latin typeface="Inter"/>
                <a:ea typeface="Inter" panose="02000503000000020004" pitchFamily="2" charset="0"/>
                <a:cs typeface="Arial"/>
              </a:rPr>
              <a:t>Felipe Menares</a:t>
            </a:r>
            <a:endParaRPr lang="es-CO" sz="1400" b="1" dirty="0">
              <a:solidFill>
                <a:schemeClr val="bg2"/>
              </a:solidFill>
              <a:latin typeface="Inter"/>
              <a:ea typeface="Inter" panose="02000503000000020004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BC9EAF7-4A31-2134-8F3D-D6AA8BC8693B}"/>
              </a:ext>
            </a:extLst>
          </p:cNvPr>
          <p:cNvSpPr txBox="1"/>
          <p:nvPr/>
        </p:nvSpPr>
        <p:spPr>
          <a:xfrm>
            <a:off x="857734" y="6097191"/>
            <a:ext cx="9212239" cy="33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Office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Strategic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Planning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and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Development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Effectiveness</a:t>
            </a:r>
            <a:endParaRPr lang="es-CO" sz="90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7D3F265-607D-8A83-7DAA-11A129DD1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770" y="5867400"/>
            <a:ext cx="1854403" cy="84727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84153B9-2FB5-1B4F-1862-1940118D27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564"/>
          <a:stretch/>
        </p:blipFill>
        <p:spPr>
          <a:xfrm>
            <a:off x="0" y="1497693"/>
            <a:ext cx="777422" cy="12065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52670F9-FED5-DC85-1F45-D66528A06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6036" y="303068"/>
            <a:ext cx="1689264" cy="48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2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E856E-5A2D-757A-2F06-F9E74D2F1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8756B40-A2EC-BD98-5372-E81202CAC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7BF94FA6-6663-FCBD-23A7-9B222D61648F}"/>
              </a:ext>
            </a:extLst>
          </p:cNvPr>
          <p:cNvSpPr/>
          <p:nvPr/>
        </p:nvSpPr>
        <p:spPr>
          <a:xfrm>
            <a:off x="7326085" y="1632857"/>
            <a:ext cx="3603172" cy="3624943"/>
          </a:xfrm>
          <a:prstGeom prst="roundRect">
            <a:avLst>
              <a:gd name="adj" fmla="val 33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F8216CD-A1A2-08E4-8556-455CC8325342}"/>
              </a:ext>
            </a:extLst>
          </p:cNvPr>
          <p:cNvSpPr txBox="1"/>
          <p:nvPr/>
        </p:nvSpPr>
        <p:spPr>
          <a:xfrm>
            <a:off x="955706" y="2486787"/>
            <a:ext cx="6174437" cy="1557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We’d love your feedback on today’s Half‑Baked 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unch</a:t>
            </a:r>
          </a:p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Scan the QR code and answer a quick survey</a:t>
            </a:r>
            <a:endParaRPr lang="es-CO" sz="105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4A16F6-7E2D-6643-BFF5-88A3F8006AF9}"/>
              </a:ext>
            </a:extLst>
          </p:cNvPr>
          <p:cNvSpPr txBox="1"/>
          <p:nvPr/>
        </p:nvSpPr>
        <p:spPr>
          <a:xfrm>
            <a:off x="857734" y="6097191"/>
            <a:ext cx="9212239" cy="33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Office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Strategic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Planning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and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Development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Effectiveness</a:t>
            </a:r>
            <a:endParaRPr lang="es-CO" sz="90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EE8B7A6-A421-7E9A-EB92-1E1FAA43B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770" y="5867400"/>
            <a:ext cx="1854403" cy="84727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9F2E94A-D713-CB12-B7C2-AA441F4778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564"/>
          <a:stretch/>
        </p:blipFill>
        <p:spPr>
          <a:xfrm>
            <a:off x="0" y="2412092"/>
            <a:ext cx="777422" cy="12065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AC37744-D79D-4017-4ACD-F65EAF5D58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428" y="1865086"/>
            <a:ext cx="3153228" cy="315322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EA2C8F8-E281-1977-249E-31DADF3F0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6036" y="303068"/>
            <a:ext cx="1689264" cy="48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89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A7C2E49-BD63-23EB-78EE-4C95EA5EC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B8EADBE-2C0D-8DCC-3409-A1DA1785C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4750FE4A-C7D1-A44A-A95A-AEBF6EB9A459}"/>
              </a:ext>
            </a:extLst>
          </p:cNvPr>
          <p:cNvSpPr/>
          <p:nvPr/>
        </p:nvSpPr>
        <p:spPr>
          <a:xfrm>
            <a:off x="7326085" y="1632857"/>
            <a:ext cx="3603172" cy="3624943"/>
          </a:xfrm>
          <a:prstGeom prst="roundRect">
            <a:avLst>
              <a:gd name="adj" fmla="val 33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675FAF-6C3B-BDF6-D4FC-270F75955948}"/>
              </a:ext>
            </a:extLst>
          </p:cNvPr>
          <p:cNvSpPr txBox="1"/>
          <p:nvPr/>
        </p:nvSpPr>
        <p:spPr>
          <a:xfrm>
            <a:off x="955706" y="2486787"/>
            <a:ext cx="6174437" cy="1557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We’d love your feedback on today’s Half‑Baked 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unch</a:t>
            </a:r>
          </a:p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Scan the QR code and answer a quick survey</a:t>
            </a:r>
            <a:endParaRPr lang="es-CO" sz="105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90E409-F1A1-0DAC-62AB-16BFA02B743F}"/>
              </a:ext>
            </a:extLst>
          </p:cNvPr>
          <p:cNvSpPr txBox="1"/>
          <p:nvPr/>
        </p:nvSpPr>
        <p:spPr>
          <a:xfrm>
            <a:off x="857734" y="6097191"/>
            <a:ext cx="9212239" cy="33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Office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Strategic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Planning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and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Development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Effectiveness</a:t>
            </a:r>
            <a:endParaRPr lang="es-CO" sz="90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71D760-3BCD-5751-0A1A-C1F3A75E1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770" y="5867400"/>
            <a:ext cx="1854403" cy="84727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087EEBE-225A-5718-BD01-6A465AC9C93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564"/>
          <a:stretch/>
        </p:blipFill>
        <p:spPr>
          <a:xfrm>
            <a:off x="0" y="2412092"/>
            <a:ext cx="777422" cy="1206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415850-2384-1856-07A8-2F070E55E150}"/>
              </a:ext>
            </a:extLst>
          </p:cNvPr>
          <p:cNvSpPr txBox="1"/>
          <p:nvPr/>
        </p:nvSpPr>
        <p:spPr>
          <a:xfrm>
            <a:off x="2994212" y="627529"/>
            <a:ext cx="3164541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QR MAYO 28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F320F6-5C9B-49FC-750A-60F5C55DA9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21758" y="1984828"/>
            <a:ext cx="2968172" cy="296817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ACAF06B-7C7E-A43E-773A-5B6D0255C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6036" y="303068"/>
            <a:ext cx="1689264" cy="48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0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817794-26A9-30F5-CC6A-1CD1BE222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6AFD2F9-577B-AEAB-AD26-167BF6BDE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BCAD7370-650E-2E5F-D03C-B6035681DBE8}"/>
              </a:ext>
            </a:extLst>
          </p:cNvPr>
          <p:cNvSpPr/>
          <p:nvPr/>
        </p:nvSpPr>
        <p:spPr>
          <a:xfrm>
            <a:off x="7326085" y="1632857"/>
            <a:ext cx="3603172" cy="3624943"/>
          </a:xfrm>
          <a:prstGeom prst="roundRect">
            <a:avLst>
              <a:gd name="adj" fmla="val 33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662EC73-3583-BD46-6E20-4A15E7CC26B5}"/>
              </a:ext>
            </a:extLst>
          </p:cNvPr>
          <p:cNvSpPr txBox="1"/>
          <p:nvPr/>
        </p:nvSpPr>
        <p:spPr>
          <a:xfrm>
            <a:off x="955706" y="2486787"/>
            <a:ext cx="6174437" cy="1557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We’d love your feedback on today’s Half‑Baked 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unch</a:t>
            </a:r>
          </a:p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Scan the QR code and answer a quick survey</a:t>
            </a:r>
            <a:endParaRPr lang="es-CO" sz="105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01CA58F-577B-4150-8136-51E50BEB9F37}"/>
              </a:ext>
            </a:extLst>
          </p:cNvPr>
          <p:cNvSpPr txBox="1"/>
          <p:nvPr/>
        </p:nvSpPr>
        <p:spPr>
          <a:xfrm>
            <a:off x="857734" y="6097191"/>
            <a:ext cx="9212239" cy="33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Office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Strategic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Planning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and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Development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Effectiveness</a:t>
            </a:r>
            <a:endParaRPr lang="es-CO" sz="90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F70238A-07ED-7C98-98C1-E895A6978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770" y="5867400"/>
            <a:ext cx="1854403" cy="84727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276DFC5-D493-6CEC-DB88-E3B2EE1E2F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564"/>
          <a:stretch/>
        </p:blipFill>
        <p:spPr>
          <a:xfrm>
            <a:off x="0" y="2412092"/>
            <a:ext cx="777422" cy="1206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62E22B-0146-F05E-2B64-39C4DDE04F08}"/>
              </a:ext>
            </a:extLst>
          </p:cNvPr>
          <p:cNvSpPr txBox="1"/>
          <p:nvPr/>
        </p:nvSpPr>
        <p:spPr>
          <a:xfrm>
            <a:off x="2994212" y="627529"/>
            <a:ext cx="3164541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QR JUNIO 04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00D0529-DE19-E08E-7D89-5B214BA94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6036" y="303068"/>
            <a:ext cx="1689264" cy="48664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4429770-AF18-2DB5-F802-6B9F45A9DFD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21758" y="1984828"/>
            <a:ext cx="2968172" cy="296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397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5C6E97A-4807-E93C-020C-0BC2BE463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2F3C430-319F-A92F-E859-C9A9078F8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57D0F268-FBF2-DA28-9B8C-5D1C26F19BB7}"/>
              </a:ext>
            </a:extLst>
          </p:cNvPr>
          <p:cNvSpPr/>
          <p:nvPr/>
        </p:nvSpPr>
        <p:spPr>
          <a:xfrm>
            <a:off x="7326085" y="1632857"/>
            <a:ext cx="3603172" cy="3624943"/>
          </a:xfrm>
          <a:prstGeom prst="roundRect">
            <a:avLst>
              <a:gd name="adj" fmla="val 33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A9C18DB-7896-460A-E49B-618D373CF012}"/>
              </a:ext>
            </a:extLst>
          </p:cNvPr>
          <p:cNvSpPr txBox="1"/>
          <p:nvPr/>
        </p:nvSpPr>
        <p:spPr>
          <a:xfrm>
            <a:off x="955706" y="2486787"/>
            <a:ext cx="6174437" cy="1557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We’d love your feedback on today’s Half‑Baked 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unch</a:t>
            </a:r>
          </a:p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Scan the QR code and answer a quick survey</a:t>
            </a:r>
            <a:endParaRPr lang="es-CO" sz="105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E9E3805-A68E-123F-F163-319B2DA80412}"/>
              </a:ext>
            </a:extLst>
          </p:cNvPr>
          <p:cNvSpPr txBox="1"/>
          <p:nvPr/>
        </p:nvSpPr>
        <p:spPr>
          <a:xfrm>
            <a:off x="857734" y="6097191"/>
            <a:ext cx="9212239" cy="33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Office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Strategic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Planning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and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Development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Effectiveness</a:t>
            </a:r>
            <a:endParaRPr lang="es-CO" sz="90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525487-B6C2-FE57-ACD3-F6F30DB76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770" y="5867400"/>
            <a:ext cx="1854403" cy="84727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7AF22A2-53B7-D62F-4344-F28F350B20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564"/>
          <a:stretch/>
        </p:blipFill>
        <p:spPr>
          <a:xfrm>
            <a:off x="0" y="2412092"/>
            <a:ext cx="777422" cy="1206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CDB1E3-3923-8F65-BFAD-F06B0224482C}"/>
              </a:ext>
            </a:extLst>
          </p:cNvPr>
          <p:cNvSpPr txBox="1"/>
          <p:nvPr/>
        </p:nvSpPr>
        <p:spPr>
          <a:xfrm>
            <a:off x="2994212" y="627529"/>
            <a:ext cx="3164541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QR JUNIO 11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75D76DB-E666-CEC3-1019-D1DCD5DFC5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6286" y="1984828"/>
            <a:ext cx="2968172" cy="296817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D0E2AF5-7B60-B15B-B46A-0A92EC82A3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6036" y="303068"/>
            <a:ext cx="1689264" cy="48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895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031CCC-2D98-AA16-548A-1B314D5D1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5264531-9D43-1AB5-BDF1-F0066FD60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948AD4F7-883D-C073-BF59-39C9425FA3B9}"/>
              </a:ext>
            </a:extLst>
          </p:cNvPr>
          <p:cNvSpPr/>
          <p:nvPr/>
        </p:nvSpPr>
        <p:spPr>
          <a:xfrm>
            <a:off x="7326085" y="1632857"/>
            <a:ext cx="3603172" cy="3624943"/>
          </a:xfrm>
          <a:prstGeom prst="roundRect">
            <a:avLst>
              <a:gd name="adj" fmla="val 33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198335-187E-3E09-5F24-EB0F88582773}"/>
              </a:ext>
            </a:extLst>
          </p:cNvPr>
          <p:cNvSpPr txBox="1"/>
          <p:nvPr/>
        </p:nvSpPr>
        <p:spPr>
          <a:xfrm>
            <a:off x="955706" y="2486787"/>
            <a:ext cx="6174437" cy="1557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We’d love your feedback on today’s Half‑Baked 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unch</a:t>
            </a:r>
          </a:p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Scan the QR code and answer a quick survey</a:t>
            </a:r>
            <a:endParaRPr lang="es-CO" sz="105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3DE07B-AE2C-80EC-123A-AED1BEEDADC1}"/>
              </a:ext>
            </a:extLst>
          </p:cNvPr>
          <p:cNvSpPr txBox="1"/>
          <p:nvPr/>
        </p:nvSpPr>
        <p:spPr>
          <a:xfrm>
            <a:off x="857734" y="6097191"/>
            <a:ext cx="9212239" cy="33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Office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Strategic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Planning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and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Development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Effectiveness</a:t>
            </a:r>
            <a:endParaRPr lang="es-CO" sz="90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BCE0180-A202-A833-4CD8-43DA59788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770" y="5867400"/>
            <a:ext cx="1854403" cy="84727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4ED0AAC-63AB-E7AD-F1D3-18F304D5A8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564"/>
          <a:stretch/>
        </p:blipFill>
        <p:spPr>
          <a:xfrm>
            <a:off x="0" y="2412092"/>
            <a:ext cx="777422" cy="1206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7DE5A9-A5D3-18E1-2D81-9AD2AEC5B5D8}"/>
              </a:ext>
            </a:extLst>
          </p:cNvPr>
          <p:cNvSpPr txBox="1"/>
          <p:nvPr/>
        </p:nvSpPr>
        <p:spPr>
          <a:xfrm>
            <a:off x="2994212" y="627529"/>
            <a:ext cx="4887045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QR MARZO 12 Nudging households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8B070D8E-094B-89D4-1B36-AB0BAACA3FF7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863" t="5058" r="4863" b="5058"/>
          <a:stretch/>
        </p:blipFill>
        <p:spPr>
          <a:xfrm>
            <a:off x="7523018" y="1856510"/>
            <a:ext cx="3214255" cy="32004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0972B19-C60A-F7D4-680E-96F1FAB2D0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6036" y="303068"/>
            <a:ext cx="1689264" cy="48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39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9B6F10F-0A50-FE68-FD1B-C2AE2B02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A053F41-7B21-44C2-10AD-9F5371CBC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BC6C5C5C-D86B-D09A-6DD2-3C82ABD12FEF}"/>
              </a:ext>
            </a:extLst>
          </p:cNvPr>
          <p:cNvSpPr/>
          <p:nvPr/>
        </p:nvSpPr>
        <p:spPr>
          <a:xfrm>
            <a:off x="7326085" y="1632857"/>
            <a:ext cx="3603172" cy="3624943"/>
          </a:xfrm>
          <a:prstGeom prst="roundRect">
            <a:avLst>
              <a:gd name="adj" fmla="val 33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D294C62-C276-9F6D-827C-4F2C000AE63B}"/>
              </a:ext>
            </a:extLst>
          </p:cNvPr>
          <p:cNvSpPr txBox="1"/>
          <p:nvPr/>
        </p:nvSpPr>
        <p:spPr>
          <a:xfrm>
            <a:off x="955706" y="2486787"/>
            <a:ext cx="6174437" cy="1557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We’d love your feedback on today’s Half‑Baked 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unch</a:t>
            </a:r>
          </a:p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Scan the QR code and answer a quick survey</a:t>
            </a:r>
            <a:endParaRPr lang="es-CO" sz="105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1605458-169A-0B43-83E9-9970E878DCA4}"/>
              </a:ext>
            </a:extLst>
          </p:cNvPr>
          <p:cNvSpPr txBox="1"/>
          <p:nvPr/>
        </p:nvSpPr>
        <p:spPr>
          <a:xfrm>
            <a:off x="857734" y="6097191"/>
            <a:ext cx="9212239" cy="33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Office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Strategic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Planning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and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Development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Effectiveness</a:t>
            </a:r>
            <a:endParaRPr lang="es-CO" sz="90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1859CAE-D3B7-85E3-22C2-3C7D2B90C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770" y="5867400"/>
            <a:ext cx="1854403" cy="84727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7AD385E-1965-5DCB-F7DA-C93A377E52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564"/>
          <a:stretch/>
        </p:blipFill>
        <p:spPr>
          <a:xfrm>
            <a:off x="0" y="2412092"/>
            <a:ext cx="777422" cy="1206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0350B9-7B9F-213B-DB15-5F259730FB7C}"/>
              </a:ext>
            </a:extLst>
          </p:cNvPr>
          <p:cNvSpPr txBox="1"/>
          <p:nvPr/>
        </p:nvSpPr>
        <p:spPr>
          <a:xfrm>
            <a:off x="2994212" y="627529"/>
            <a:ext cx="3164541" cy="707886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/>
              <a:t>QR ABRIL 09-CANCELADO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A80E592-0FEB-ACD2-C6C4-59630C6F0B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5572" y="1872342"/>
            <a:ext cx="3156858" cy="315685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5BBB48A-AD95-1BFB-993E-0C1334BC4F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6036" y="303068"/>
            <a:ext cx="1689264" cy="48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132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40C725A-605F-8A19-1ECB-F73B414E9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4BB29E2-8DC3-366D-197E-9B8FF605F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4B69FA0D-FEF3-3978-10DC-CC3F6618A645}"/>
              </a:ext>
            </a:extLst>
          </p:cNvPr>
          <p:cNvSpPr/>
          <p:nvPr/>
        </p:nvSpPr>
        <p:spPr>
          <a:xfrm>
            <a:off x="7326085" y="1632857"/>
            <a:ext cx="3603172" cy="3624943"/>
          </a:xfrm>
          <a:prstGeom prst="roundRect">
            <a:avLst>
              <a:gd name="adj" fmla="val 33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55DBF07-601A-60CB-5C24-D68F990AEA3E}"/>
              </a:ext>
            </a:extLst>
          </p:cNvPr>
          <p:cNvSpPr txBox="1"/>
          <p:nvPr/>
        </p:nvSpPr>
        <p:spPr>
          <a:xfrm>
            <a:off x="955706" y="2486787"/>
            <a:ext cx="6174437" cy="1557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We’d love your feedback on today’s Half‑Baked 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unch</a:t>
            </a:r>
          </a:p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Scan the QR code and answer a quick survey</a:t>
            </a:r>
            <a:endParaRPr lang="es-CO" sz="105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5F1B878-FEF0-3B9B-580F-E0ACD1AF7964}"/>
              </a:ext>
            </a:extLst>
          </p:cNvPr>
          <p:cNvSpPr txBox="1"/>
          <p:nvPr/>
        </p:nvSpPr>
        <p:spPr>
          <a:xfrm>
            <a:off x="857734" y="6097191"/>
            <a:ext cx="9212239" cy="33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Office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Strategic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Planning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and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Development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Effectiveness</a:t>
            </a:r>
            <a:endParaRPr lang="es-CO" sz="90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7497CC-AD8B-C45A-EDED-B5E211281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770" y="5867400"/>
            <a:ext cx="1854403" cy="84727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3CF32FA-A26F-3AA3-0737-F77C7E223EA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564"/>
          <a:stretch/>
        </p:blipFill>
        <p:spPr>
          <a:xfrm>
            <a:off x="0" y="2412092"/>
            <a:ext cx="777422" cy="1206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0B0FFD-1D41-8A3E-A2C3-DFDDD391A55D}"/>
              </a:ext>
            </a:extLst>
          </p:cNvPr>
          <p:cNvSpPr txBox="1"/>
          <p:nvPr/>
        </p:nvSpPr>
        <p:spPr>
          <a:xfrm>
            <a:off x="3051939" y="581347"/>
            <a:ext cx="3164541" cy="1015663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/>
              <a:t>QR ABRIL 23-CANCELADO Y CAMBIADO</a:t>
            </a: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5EB992A4-D074-D9D9-508A-7DA24440043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878" t="3614" r="3669" b="3659"/>
          <a:stretch/>
        </p:blipFill>
        <p:spPr>
          <a:xfrm>
            <a:off x="7511142" y="1772816"/>
            <a:ext cx="3265377" cy="33108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C3C7856-BA62-F70F-464F-0C9DD0B724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6036" y="303068"/>
            <a:ext cx="1689264" cy="48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42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3FAE75-4DEF-3BF4-6C40-BEA445B6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C498E59-49E0-D217-F561-2A70E474C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7E0E9714-6356-F872-1FF2-F20CDD851224}"/>
              </a:ext>
            </a:extLst>
          </p:cNvPr>
          <p:cNvSpPr/>
          <p:nvPr/>
        </p:nvSpPr>
        <p:spPr>
          <a:xfrm>
            <a:off x="7326085" y="1632857"/>
            <a:ext cx="3603172" cy="3624943"/>
          </a:xfrm>
          <a:prstGeom prst="roundRect">
            <a:avLst>
              <a:gd name="adj" fmla="val 33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85FA289-7EEA-A296-C096-2B06124AE93A}"/>
              </a:ext>
            </a:extLst>
          </p:cNvPr>
          <p:cNvSpPr txBox="1"/>
          <p:nvPr/>
        </p:nvSpPr>
        <p:spPr>
          <a:xfrm>
            <a:off x="955706" y="2486787"/>
            <a:ext cx="6174437" cy="1557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We’d love your feedback on today’s Half‑Baked 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unch</a:t>
            </a:r>
          </a:p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Scan the QR code and answer a quick survey</a:t>
            </a:r>
            <a:endParaRPr lang="es-CO" sz="105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22CB03E-9B1E-823B-0FD7-AE94311A596A}"/>
              </a:ext>
            </a:extLst>
          </p:cNvPr>
          <p:cNvSpPr txBox="1"/>
          <p:nvPr/>
        </p:nvSpPr>
        <p:spPr>
          <a:xfrm>
            <a:off x="857734" y="6097191"/>
            <a:ext cx="9212239" cy="33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Office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Strategic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Planning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and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Development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Effectiveness</a:t>
            </a:r>
            <a:endParaRPr lang="es-CO" sz="90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1A1AB6-3475-316F-60C2-5B1F6D022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770" y="5867400"/>
            <a:ext cx="1854403" cy="84727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BE8E7ED-2754-BA20-215C-584D471E46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564"/>
          <a:stretch/>
        </p:blipFill>
        <p:spPr>
          <a:xfrm>
            <a:off x="0" y="2412092"/>
            <a:ext cx="777422" cy="12065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83ABEEC-E24F-97C0-792D-D0BEBE4830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6036" y="303068"/>
            <a:ext cx="1689264" cy="486642"/>
          </a:xfrm>
          <a:prstGeom prst="rect">
            <a:avLst/>
          </a:prstGeom>
        </p:spPr>
      </p:pic>
      <p:pic>
        <p:nvPicPr>
          <p:cNvPr id="2" name="Picture 1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081B1360-EEA2-7E33-997B-414251B429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1025" y="1798834"/>
            <a:ext cx="3285951" cy="32891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563CC3-8EE8-2A1B-1B14-90DEC12D9756}"/>
              </a:ext>
            </a:extLst>
          </p:cNvPr>
          <p:cNvSpPr txBox="1"/>
          <p:nvPr/>
        </p:nvSpPr>
        <p:spPr>
          <a:xfrm>
            <a:off x="2994212" y="627529"/>
            <a:ext cx="3164541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QR APRIL 23</a:t>
            </a:r>
          </a:p>
        </p:txBody>
      </p:sp>
    </p:spTree>
    <p:extLst>
      <p:ext uri="{BB962C8B-B14F-4D97-AF65-F5344CB8AC3E}">
        <p14:creationId xmlns:p14="http://schemas.microsoft.com/office/powerpoint/2010/main" val="3887392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BC01CB-119B-8E62-4991-7C6837144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B171461-75DE-0ED3-9EFF-311AA97A1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D2C1B564-9BA5-DF6A-4DB5-7FC94593C115}"/>
              </a:ext>
            </a:extLst>
          </p:cNvPr>
          <p:cNvSpPr/>
          <p:nvPr/>
        </p:nvSpPr>
        <p:spPr>
          <a:xfrm>
            <a:off x="7326085" y="1632857"/>
            <a:ext cx="3603172" cy="3624943"/>
          </a:xfrm>
          <a:prstGeom prst="roundRect">
            <a:avLst>
              <a:gd name="adj" fmla="val 33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704590-649C-2BA8-8148-7D9E6D7CCA83}"/>
              </a:ext>
            </a:extLst>
          </p:cNvPr>
          <p:cNvSpPr txBox="1"/>
          <p:nvPr/>
        </p:nvSpPr>
        <p:spPr>
          <a:xfrm>
            <a:off x="955706" y="2486787"/>
            <a:ext cx="6174437" cy="1557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We’d love your feedback on today’s Half‑Baked 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unch</a:t>
            </a:r>
          </a:p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Scan the QR code and answer a quick survey</a:t>
            </a:r>
            <a:endParaRPr lang="es-CO" sz="105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034FFC3-5F13-5313-0B46-76AC91FC8FE7}"/>
              </a:ext>
            </a:extLst>
          </p:cNvPr>
          <p:cNvSpPr txBox="1"/>
          <p:nvPr/>
        </p:nvSpPr>
        <p:spPr>
          <a:xfrm>
            <a:off x="857734" y="6097191"/>
            <a:ext cx="9212239" cy="33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Office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Strategic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Planning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and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Development</a:t>
            </a:r>
            <a:r>
              <a:rPr lang="es-CO" sz="16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60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Effectiveness</a:t>
            </a:r>
            <a:endParaRPr lang="es-CO" sz="90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1055AB-54C9-D0E8-F83C-4EAB66179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770" y="5867400"/>
            <a:ext cx="1854403" cy="84727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030F9C3-5A2D-9DE7-A617-58DE511CEA6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564"/>
          <a:stretch/>
        </p:blipFill>
        <p:spPr>
          <a:xfrm>
            <a:off x="0" y="2412092"/>
            <a:ext cx="777422" cy="1206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719DEB-1599-71EF-3291-A2635857BC54}"/>
              </a:ext>
            </a:extLst>
          </p:cNvPr>
          <p:cNvSpPr txBox="1"/>
          <p:nvPr/>
        </p:nvSpPr>
        <p:spPr>
          <a:xfrm>
            <a:off x="2994212" y="627529"/>
            <a:ext cx="3164541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QR MAYO 14</a:t>
            </a: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7A99FB65-766B-8802-D3FB-BDB69B65887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14" b="1114"/>
          <a:stretch/>
        </p:blipFill>
        <p:spPr>
          <a:xfrm>
            <a:off x="7467599" y="1802320"/>
            <a:ext cx="3367181" cy="329219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15E9ED1-887B-8CD2-5F14-F01944E479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6036" y="303068"/>
            <a:ext cx="1689264" cy="48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51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4AF007-6C70-8C00-F5A1-3FAA4C8D4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08841A0-2928-4707-64D8-986632008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DCCDAF01-5457-4942-26EC-07FE32AB2A6A}"/>
              </a:ext>
            </a:extLst>
          </p:cNvPr>
          <p:cNvSpPr/>
          <p:nvPr/>
        </p:nvSpPr>
        <p:spPr>
          <a:xfrm>
            <a:off x="7326085" y="1632857"/>
            <a:ext cx="3603172" cy="3624943"/>
          </a:xfrm>
          <a:prstGeom prst="roundRect">
            <a:avLst>
              <a:gd name="adj" fmla="val 33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7B1A6C4-2149-59BA-6B5E-E6CA2D29F37A}"/>
              </a:ext>
            </a:extLst>
          </p:cNvPr>
          <p:cNvSpPr txBox="1"/>
          <p:nvPr/>
        </p:nvSpPr>
        <p:spPr>
          <a:xfrm>
            <a:off x="955706" y="2486787"/>
            <a:ext cx="6174437" cy="1557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We’d love your feedback on today’s Half‑Baked 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</a:t>
            </a:r>
            <a:r>
              <a:rPr lang="en-US" sz="3200" b="1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unch</a:t>
            </a:r>
          </a:p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Scan the QR code and answer a quick survey</a:t>
            </a:r>
            <a:endParaRPr lang="es-CO" sz="105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1B8BDBB-5369-F7CE-2C5B-B9A1ED490D46}"/>
              </a:ext>
            </a:extLst>
          </p:cNvPr>
          <p:cNvSpPr txBox="1"/>
          <p:nvPr/>
        </p:nvSpPr>
        <p:spPr>
          <a:xfrm>
            <a:off x="857734" y="6097191"/>
            <a:ext cx="9212239" cy="33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" marR="242570">
              <a:lnSpc>
                <a:spcPct val="107000"/>
              </a:lnSpc>
              <a:spcAft>
                <a:spcPts val="800"/>
              </a:spcAft>
            </a:pPr>
            <a:r>
              <a:rPr lang="es-CO" sz="1600" dirty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Office </a:t>
            </a:r>
            <a:r>
              <a:rPr lang="es-CO" sz="1600" dirty="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of</a:t>
            </a:r>
            <a:r>
              <a:rPr lang="es-CO" sz="1600" dirty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Strategic Planning and Development Effectiveness</a:t>
            </a:r>
            <a:endParaRPr lang="es-CO" sz="9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5470A7B-0BCA-0BB7-06C5-2B7A33FF4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770" y="5867400"/>
            <a:ext cx="1854403" cy="84727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CF949AF-7950-8581-450A-B01917DAC65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564"/>
          <a:stretch/>
        </p:blipFill>
        <p:spPr>
          <a:xfrm>
            <a:off x="0" y="2412092"/>
            <a:ext cx="777422" cy="12065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EA9E979D-9D9D-F33B-2015-735720F3D1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14" b="1114"/>
          <a:stretch/>
        </p:blipFill>
        <p:spPr>
          <a:xfrm>
            <a:off x="7467599" y="1802320"/>
            <a:ext cx="3367181" cy="329219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982EBFC-C142-7555-214A-4C481EF98D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6036" y="303068"/>
            <a:ext cx="1689264" cy="4866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E2A01D-FCDF-33A3-9CF2-E5DE18598EAE}"/>
              </a:ext>
            </a:extLst>
          </p:cNvPr>
          <p:cNvSpPr txBox="1"/>
          <p:nvPr/>
        </p:nvSpPr>
        <p:spPr>
          <a:xfrm>
            <a:off x="2994212" y="627529"/>
            <a:ext cx="3164541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QR MAYO 21</a:t>
            </a:r>
          </a:p>
        </p:txBody>
      </p:sp>
    </p:spTree>
    <p:extLst>
      <p:ext uri="{BB962C8B-B14F-4D97-AF65-F5344CB8AC3E}">
        <p14:creationId xmlns:p14="http://schemas.microsoft.com/office/powerpoint/2010/main" val="16918815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s 19">
      <a:dk1>
        <a:srgbClr val="000000"/>
      </a:dk1>
      <a:lt1>
        <a:srgbClr val="FFFFFF"/>
      </a:lt1>
      <a:dk2>
        <a:srgbClr val="004E70"/>
      </a:dk2>
      <a:lt2>
        <a:srgbClr val="009ADE"/>
      </a:lt2>
      <a:accent1>
        <a:srgbClr val="004D70"/>
      </a:accent1>
      <a:accent2>
        <a:srgbClr val="0299DE"/>
      </a:accent2>
      <a:accent3>
        <a:srgbClr val="8CBA37"/>
      </a:accent3>
      <a:accent4>
        <a:srgbClr val="308044"/>
      </a:accent4>
      <a:accent5>
        <a:srgbClr val="FED900"/>
      </a:accent5>
      <a:accent6>
        <a:srgbClr val="7F7F7E"/>
      </a:accent6>
      <a:hlink>
        <a:srgbClr val="329ADF"/>
      </a:hlink>
      <a:folHlink>
        <a:srgbClr val="329AD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ez-Standards and Policy" ma:contentTypeID="0x010100AE091D973F908947948F9D50837E2B8D002BF76D22D396044CB4F5D125A1286AC4" ma:contentTypeVersion="35" ma:contentTypeDescription="A content type for the metadata capture for standards and policies" ma:contentTypeScope="" ma:versionID="ff22bdf1e2257d0781a7544eeac8931a">
  <xsd:schema xmlns:xsd="http://www.w3.org/2001/XMLSchema" xmlns:xs="http://www.w3.org/2001/XMLSchema" xmlns:p="http://schemas.microsoft.com/office/2006/metadata/properties" xmlns:ns2="cdc7663a-08f0-4737-9e8c-148ce897a09c" targetNamespace="http://schemas.microsoft.com/office/2006/metadata/properties" ma:root="true" ma:fieldsID="8c9c2476da2a0d338d0c40f11876722f" ns2:_="">
    <xsd:import namespace="cdc7663a-08f0-4737-9e8c-148ce897a09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cf0f1ca6d90e4583ad80995bcde0e58a" minOccurs="0"/>
                <xsd:element ref="ns2:TaxCatchAll" minOccurs="0"/>
                <xsd:element ref="ns2:TaxCatchAllLabel" minOccurs="0"/>
                <xsd:element ref="ns2:Access_x0020_to_x0020_Information_x00a0_Policy"/>
                <xsd:element ref="ns2:j65ec2e3a7e44c39a1acebfd2a19200a" minOccurs="0"/>
                <xsd:element ref="ns2:Policy_x0020_Number" minOccurs="0"/>
                <xsd:element ref="ns2:Stage"/>
                <xsd:element ref="ns2:Promulgation_x0020_Date" minOccurs="0"/>
                <xsd:element ref="ns2:Superseded_x0020_Date" minOccurs="0"/>
                <xsd:element ref="ns2:Document_x0020_Author" minOccurs="0"/>
                <xsd:element ref="ns2:Other_x0020_Author" minOccurs="0"/>
                <xsd:element ref="ns2:ic46d7e087fd4a108fb86518ca413cc6" minOccurs="0"/>
                <xsd:element ref="ns2:Division_x0020_or_x0020_Unit" minOccurs="0"/>
                <xsd:element ref="ns2:Document_x0020_Language_x0020_IDB" minOccurs="0"/>
                <xsd:element ref="ns2:From_x003a_" minOccurs="0"/>
                <xsd:element ref="ns2:To_x003a_" minOccurs="0"/>
                <xsd:element ref="ns2:Identifier" minOccurs="0"/>
                <xsd:element ref="ns2:IDBDocs_x0020_Number" minOccurs="0"/>
                <xsd:element ref="ns2:Migration_x0020_Info" minOccurs="0"/>
                <xsd:element ref="ns2:SISCOR_x0020_Number" minOccurs="0"/>
                <xsd:element ref="ns2:Fiscal_x0020_Year_x0020_IDB" minOccurs="0"/>
                <xsd:element ref="ns2:Extracted_x0020_Keywords" minOccurs="0"/>
                <xsd:element ref="ns2:TaxKeyword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c7663a-08f0-4737-9e8c-148ce897a09c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cf0f1ca6d90e4583ad80995bcde0e58a" ma:index="11" nillable="true" ma:taxonomy="true" ma:internalName="cf0f1ca6d90e4583ad80995bcde0e58a" ma:taxonomyFieldName="Function_x0020_Corporate_x0020_IDB" ma:displayName="Function Corporate IDB" ma:readOnly="false" ma:default="20;#4 Governance|d48f69c4-9785-416c-9a0f-b99285e2bde9" ma:fieldId="{cf0f1ca6-d90e-4583-ad80-995bcde0e58a}" ma:sspId="ae61f9b1-e23d-4f49-b3d7-56b991556c4b" ma:termSetId="87c2acd2-4473-4e75-9749-843c3514860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2" nillable="true" ma:displayName="Taxonomy Catch All Column" ma:hidden="true" ma:list="{46339a2c-a759-43f5-a320-9e18a41b2355}" ma:internalName="TaxCatchAll" ma:showField="CatchAllData" ma:web="291fbbc9-8cfb-4b1c-8eee-0b1842b903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3" nillable="true" ma:displayName="Taxonomy Catch All Column1" ma:hidden="true" ma:list="{46339a2c-a759-43f5-a320-9e18a41b2355}" ma:internalName="TaxCatchAllLabel" ma:readOnly="true" ma:showField="CatchAllDataLabel" ma:web="291fbbc9-8cfb-4b1c-8eee-0b1842b903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ccess_x0020_to_x0020_Information_x00a0_Policy" ma:index="15" ma:displayName="Access to Information Policy" ma:default="Confidential" ma:format="Dropdown" ma:internalName="Access_x0020_to_x0020_Information_x00A0_Policy">
      <xsd:simpleType>
        <xsd:restriction base="dms:Choice">
          <xsd:enumeration value="Confidential"/>
          <xsd:enumeration value="Disclosed Over Time - 1 years"/>
          <xsd:enumeration value="Disclosed Over Time - 5 years"/>
          <xsd:enumeration value="Disclosed Over Time - 10 years"/>
          <xsd:enumeration value="Disclosed Over Time - 20 years"/>
          <xsd:enumeration value="Public"/>
          <xsd:enumeration value="Public - Simultaneous Disclosure"/>
        </xsd:restriction>
      </xsd:simpleType>
    </xsd:element>
    <xsd:element name="j65ec2e3a7e44c39a1acebfd2a19200a" ma:index="16" nillable="true" ma:taxonomy="true" ma:internalName="j65ec2e3a7e44c39a1acebfd2a19200a" ma:taxonomyFieldName="Series_x0020_Corporate_x0020_IDB" ma:displayName="Series Corporate IDB" ma:readOnly="false" ma:default="478;#GOV-07 Policies and Procedures|3b89635c-b6ec-4e08-819f-3881ddae0f5b" ma:fieldId="{365ec2e3-a7e4-4c39-a1ac-ebfd2a19200a}" ma:sspId="ae61f9b1-e23d-4f49-b3d7-56b991556c4b" ma:termSetId="309dd783-e737-4304-818f-f24bd2ff36b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olicy_x0020_Number" ma:index="18" nillable="true" ma:displayName="Policy Number" ma:internalName="Policy_x0020_Number">
      <xsd:simpleType>
        <xsd:restriction base="dms:Text">
          <xsd:maxLength value="255"/>
        </xsd:restriction>
      </xsd:simpleType>
    </xsd:element>
    <xsd:element name="Stage" ma:index="19" ma:displayName="Stage" ma:default="Draft" ma:format="Dropdown" ma:internalName="Stage" ma:readOnly="false">
      <xsd:simpleType>
        <xsd:restriction base="dms:Choice">
          <xsd:enumeration value="Draft"/>
          <xsd:enumeration value="Comments"/>
          <xsd:enumeration value="Official - Enforced"/>
          <xsd:enumeration value="External"/>
          <xsd:enumeration value="Superseded"/>
          <xsd:enumeration value="Support Document"/>
          <xsd:enumeration value="Promulgate"/>
        </xsd:restriction>
      </xsd:simpleType>
    </xsd:element>
    <xsd:element name="Promulgation_x0020_Date" ma:index="20" nillable="true" ma:displayName="Promulgation Date" ma:format="DateOnly" ma:internalName="Promulgation_x0020_Date">
      <xsd:simpleType>
        <xsd:restriction base="dms:DateTime"/>
      </xsd:simpleType>
    </xsd:element>
    <xsd:element name="Superseded_x0020_Date" ma:index="21" nillable="true" ma:displayName="Derogation Date" ma:format="DateOnly" ma:internalName="Superseded_x0020_Date">
      <xsd:simpleType>
        <xsd:restriction base="dms:DateTime"/>
      </xsd:simpleType>
    </xsd:element>
    <xsd:element name="Document_x0020_Author" ma:index="22" nillable="true" ma:displayName="Document Author" ma:internalName="Document_x0020_Author">
      <xsd:simpleType>
        <xsd:restriction base="dms:Text">
          <xsd:maxLength value="255"/>
        </xsd:restriction>
      </xsd:simpleType>
    </xsd:element>
    <xsd:element name="Other_x0020_Author" ma:index="23" nillable="true" ma:displayName="Other Author" ma:internalName="Other_x0020_Author">
      <xsd:simpleType>
        <xsd:restriction base="dms:Text">
          <xsd:maxLength value="255"/>
        </xsd:restriction>
      </xsd:simpleType>
    </xsd:element>
    <xsd:element name="ic46d7e087fd4a108fb86518ca413cc6" ma:index="24" nillable="true" ma:taxonomy="true" ma:internalName="ic46d7e087fd4a108fb86518ca413cc6" ma:taxonomyFieldName="Country" ma:displayName="Country" ma:default="" ma:fieldId="{2c46d7e0-87fd-4a10-8fb8-6518ca413cc6}" ma:taxonomyMulti="true" ma:sspId="ae61f9b1-e23d-4f49-b3d7-56b991556c4b" ma:termSetId="e1cf2cf4-6e0f-476b-b38c-a4927f870e8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ivision_x0020_or_x0020_Unit" ma:index="26" nillable="true" ma:displayName="Division or Unit" ma:internalName="Division_x0020_or_x0020_Unit">
      <xsd:simpleType>
        <xsd:restriction base="dms:Text">
          <xsd:maxLength value="255"/>
        </xsd:restriction>
      </xsd:simpleType>
    </xsd:element>
    <xsd:element name="Document_x0020_Language_x0020_IDB" ma:index="27" nillable="true" ma:displayName="Document Language IDB" ma:format="Dropdown" ma:internalName="Document_x0020_Language_x0020_IDB">
      <xsd:simpleType>
        <xsd:restriction base="dms:Choice">
          <xsd:enumeration value="English"/>
          <xsd:enumeration value="French"/>
          <xsd:enumeration value="Italian"/>
          <xsd:enumeration value="Japanese"/>
          <xsd:enumeration value="Korean"/>
          <xsd:enumeration value="Other"/>
          <xsd:enumeration value="Portuguese"/>
          <xsd:enumeration value="Spanish"/>
        </xsd:restriction>
      </xsd:simpleType>
    </xsd:element>
    <xsd:element name="From_x003a_" ma:index="28" nillable="true" ma:displayName="From:" ma:description="Sender name from email message" ma:internalName="From_x003A_">
      <xsd:simpleType>
        <xsd:restriction base="dms:Text">
          <xsd:maxLength value="255"/>
        </xsd:restriction>
      </xsd:simpleType>
    </xsd:element>
    <xsd:element name="To_x003a_" ma:index="29" nillable="true" ma:displayName="To:" ma:description="Addressee names from email message&#10;" ma:internalName="To_x003A_">
      <xsd:simpleType>
        <xsd:restriction base="dms:Text">
          <xsd:maxLength value="255"/>
        </xsd:restriction>
      </xsd:simpleType>
    </xsd:element>
    <xsd:element name="Identifier" ma:index="30" nillable="true" ma:displayName="Identifier" ma:internalName="Identifier">
      <xsd:simpleType>
        <xsd:restriction base="dms:Text">
          <xsd:maxLength value="255"/>
        </xsd:restriction>
      </xsd:simpleType>
    </xsd:element>
    <xsd:element name="IDBDocs_x0020_Number" ma:index="31" nillable="true" ma:displayName="IDBDocs Number" ma:internalName="IDBDocs_x0020_Number" ma:readOnly="false">
      <xsd:simpleType>
        <xsd:restriction base="dms:Text">
          <xsd:maxLength value="255"/>
        </xsd:restriction>
      </xsd:simpleType>
    </xsd:element>
    <xsd:element name="Migration_x0020_Info" ma:index="32" nillable="true" ma:displayName="Migration Info" ma:internalName="Migration_x0020_Info" ma:readOnly="false">
      <xsd:simpleType>
        <xsd:restriction base="dms:Note"/>
      </xsd:simpleType>
    </xsd:element>
    <xsd:element name="SISCOR_x0020_Number" ma:index="33" nillable="true" ma:displayName="SISCOR Number" ma:internalName="SISCOR_x0020_Number" ma:readOnly="false">
      <xsd:simpleType>
        <xsd:restriction base="dms:Text">
          <xsd:maxLength value="255"/>
        </xsd:restriction>
      </xsd:simpleType>
    </xsd:element>
    <xsd:element name="Fiscal_x0020_Year_x0020_IDB" ma:index="34" nillable="true" ma:displayName="Fiscal Year IDB" ma:internalName="Fiscal_x0020_Year_x0020_IDB" ma:readOnly="false">
      <xsd:simpleType>
        <xsd:restriction base="dms:Text">
          <xsd:maxLength value="255"/>
        </xsd:restriction>
      </xsd:simpleType>
    </xsd:element>
    <xsd:element name="Extracted_x0020_Keywords" ma:index="35" nillable="true" ma:displayName="Extracted Keywords" ma:internalName="Extracted_x0020_Keywords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ez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TaxKeywordTaxHTField" ma:index="36" nillable="true" ma:taxonomy="true" ma:internalName="TaxKeywordTaxHTField" ma:taxonomyFieldName="TaxKeyword" ma:displayName="Tags" ma:fieldId="{23f27201-bee3-471e-b2e7-b64fd8b7ca38}" ma:taxonomyMulti="true" ma:sspId="ae61f9b1-e23d-4f49-b3d7-56b991556c4b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cess_x0020_to_x0020_Information_x00a0_Policy xmlns="cdc7663a-08f0-4737-9e8c-148ce897a09c">Confidential</Access_x0020_to_x0020_Information_x00a0_Policy>
    <SISCOR_x0020_Number xmlns="cdc7663a-08f0-4737-9e8c-148ce897a09c" xsi:nil="true"/>
    <ic46d7e087fd4a108fb86518ca413cc6 xmlns="cdc7663a-08f0-4737-9e8c-148ce897a09c">
      <Terms xmlns="http://schemas.microsoft.com/office/infopath/2007/PartnerControls"/>
    </ic46d7e087fd4a108fb86518ca413cc6>
    <IDBDocs_x0020_Number xmlns="cdc7663a-08f0-4737-9e8c-148ce897a09c" xsi:nil="true"/>
    <Division_x0020_or_x0020_Unit xmlns="cdc7663a-08f0-4737-9e8c-148ce897a09c">SPD/SPD</Division_x0020_or_x0020_Unit>
    <From_x003a_ xmlns="cdc7663a-08f0-4737-9e8c-148ce897a09c" xsi:nil="true"/>
    <Fiscal_x0020_Year_x0020_IDB xmlns="cdc7663a-08f0-4737-9e8c-148ce897a09c">2026</Fiscal_x0020_Year_x0020_IDB>
    <Other_x0020_Author xmlns="cdc7663a-08f0-4737-9e8c-148ce897a09c" xsi:nil="true"/>
    <Migration_x0020_Info xmlns="cdc7663a-08f0-4737-9e8c-148ce897a09c" xsi:nil="true"/>
    <j65ec2e3a7e44c39a1acebfd2a19200a xmlns="cdc7663a-08f0-4737-9e8c-148ce897a09c">
      <Terms xmlns="http://schemas.microsoft.com/office/infopath/2007/PartnerControls">
        <TermInfo xmlns="http://schemas.microsoft.com/office/infopath/2007/PartnerControls">
          <TermName xmlns="http://schemas.microsoft.com/office/infopath/2007/PartnerControls">GOV-07 Policies and Procedures</TermName>
          <TermId xmlns="http://schemas.microsoft.com/office/infopath/2007/PartnerControls">3b89635c-b6ec-4e08-819f-3881ddae0f5b</TermId>
        </TermInfo>
      </Terms>
    </j65ec2e3a7e44c39a1acebfd2a19200a>
    <Document_x0020_Author xmlns="cdc7663a-08f0-4737-9e8c-148ce897a09c">Paula Saenz</Document_x0020_Author>
    <Document_x0020_Language_x0020_IDB xmlns="cdc7663a-08f0-4737-9e8c-148ce897a09c" xsi:nil="true"/>
    <Policy_x0020_Number xmlns="cdc7663a-08f0-4737-9e8c-148ce897a09c" xsi:nil="true"/>
    <TaxCatchAll xmlns="cdc7663a-08f0-4737-9e8c-148ce897a09c">
      <Value>20</Value>
      <Value>478</Value>
    </TaxCatchAll>
    <Superseded_x0020_Date xmlns="cdc7663a-08f0-4737-9e8c-148ce897a09c" xsi:nil="true"/>
    <TaxKeywordTaxHTField xmlns="cdc7663a-08f0-4737-9e8c-148ce897a09c">
      <Terms xmlns="http://schemas.microsoft.com/office/infopath/2007/PartnerControls"/>
    </TaxKeywordTaxHTField>
    <Stage xmlns="cdc7663a-08f0-4737-9e8c-148ce897a09c">Draft</Stage>
    <To_x003a_ xmlns="cdc7663a-08f0-4737-9e8c-148ce897a09c" xsi:nil="true"/>
    <Identifier xmlns="cdc7663a-08f0-4737-9e8c-148ce897a09c" xsi:nil="true"/>
    <Promulgation_x0020_Date xmlns="cdc7663a-08f0-4737-9e8c-148ce897a09c" xsi:nil="true"/>
    <cf0f1ca6d90e4583ad80995bcde0e58a xmlns="cdc7663a-08f0-4737-9e8c-148ce897a09c">
      <Terms xmlns="http://schemas.microsoft.com/office/infopath/2007/PartnerControls">
        <TermInfo xmlns="http://schemas.microsoft.com/office/infopath/2007/PartnerControls">
          <TermName xmlns="http://schemas.microsoft.com/office/infopath/2007/PartnerControls">4 Governance</TermName>
          <TermId xmlns="http://schemas.microsoft.com/office/infopath/2007/PartnerControls">d48f69c4-9785-416c-9a0f-b99285e2bde9</TermId>
        </TermInfo>
      </Terms>
    </cf0f1ca6d90e4583ad80995bcde0e58a>
    <Extracted_x0020_Keywords xmlns="cdc7663a-08f0-4737-9e8c-148ce897a09c" xsi:nil="true"/>
    <_dlc_DocId xmlns="cdc7663a-08f0-4737-9e8c-148ce897a09c">EZIDB0000578-308104095-16727</_dlc_DocId>
    <_dlc_DocIdUrl xmlns="cdc7663a-08f0-4737-9e8c-148ce897a09c">
      <Url>https://idbg.sharepoint.com/teams/ez-SPD/SDV/PD/_layouts/15/DocIdRedir.aspx?ID=EZIDB0000578-308104095-16727</Url>
      <Description>EZIDB0000578-308104095-16727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SharedContentType xmlns="Microsoft.SharePoint.Taxonomy.ContentTypeSync" SourceId="ae61f9b1-e23d-4f49-b3d7-56b991556c4b" ContentTypeId="0x010100AE091D973F908947948F9D50837E2B8D" PreviousValue="false"/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D5C16B4-9910-48FB-9851-381757783990}">
  <ds:schemaRefs>
    <ds:schemaRef ds:uri="cdc7663a-08f0-4737-9e8c-148ce897a0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ADC3DAA-9C3F-49B9-8300-D35D94E124DB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cdc7663a-08f0-4737-9e8c-148ce897a09c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C4680062-CF1B-4837-9FB1-2013746AEC61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E00CED7B-077D-4FA5-A431-3249A676BECC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F37AB027-EF16-46E8-B472-CB549C74DBA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314</Words>
  <Application>Microsoft Office PowerPoint</Application>
  <PresentationFormat>Widescreen</PresentationFormat>
  <Paragraphs>43</Paragraphs>
  <Slides>11</Slides>
  <Notes>0</Notes>
  <HiddenSlides>9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Inter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SAENZ UMANA , PAULA</dc:creator>
  <cp:lastModifiedBy>Fernanda</cp:lastModifiedBy>
  <cp:revision>1</cp:revision>
  <dcterms:created xsi:type="dcterms:W3CDTF">2026-02-02T21:33:55Z</dcterms:created>
  <dcterms:modified xsi:type="dcterms:W3CDTF">2026-06-24T13:33:13Z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0x010100AE091D973F908947948F9D50837E2B8D002BF76D22D396044CB4F5D125A1286AC4</vt:lpwstr>
  </property>
  <property fmtid="{D5CDD505-2E9C-101B-9397-08002B2CF9AE}" pid="3" name="_dlc_DocIdItemGuid">
    <vt:lpwstr>4d27b36e-e534-4b4a-8870-ae7590ebb6b9</vt:lpwstr>
  </property>
  <property fmtid="{D5CDD505-2E9C-101B-9397-08002B2CF9AE}" pid="4" name="Function Corporate IDB">
    <vt:lpwstr>20;#4 Governance|d48f69c4-9785-416c-9a0f-b99285e2bde9</vt:lpwstr>
  </property>
  <property fmtid="{D5CDD505-2E9C-101B-9397-08002B2CF9AE}" pid="5" name="Series Corporate IDB">
    <vt:lpwstr>478;#GOV-07 Policies and Procedures|3b89635c-b6ec-4e08-819f-3881ddae0f5b</vt:lpwstr>
  </property>
  <property fmtid="{D5CDD505-2E9C-101B-9397-08002B2CF9AE}" pid="6" name="TaxKeyword">
    <vt:lpwstr/>
  </property>
  <property fmtid="{D5CDD505-2E9C-101B-9397-08002B2CF9AE}" pid="7" name="MediaServiceImageTags">
    <vt:lpwstr/>
  </property>
  <property fmtid="{D5CDD505-2E9C-101B-9397-08002B2CF9AE}" pid="8" name="Function_x0020_Corporate_x0020_IDB">
    <vt:lpwstr>20;#4 Governance|d48f69c4-9785-416c-9a0f-b99285e2bde9</vt:lpwstr>
  </property>
  <property fmtid="{D5CDD505-2E9C-101B-9397-08002B2CF9AE}" pid="9" name="Country">
    <vt:lpwstr/>
  </property>
  <property fmtid="{D5CDD505-2E9C-101B-9397-08002B2CF9AE}" pid="10" name="lcf76f155ced4ddcb4097134ff3c332f">
    <vt:lpwstr/>
  </property>
  <property fmtid="{D5CDD505-2E9C-101B-9397-08002B2CF9AE}" pid="11" name="Series_x0020_Corporate_x0020_IDB">
    <vt:lpwstr>478;#GOV-07 Policies and Procedures|3b89635c-b6ec-4e08-819f-3881ddae0f5b</vt:lpwstr>
  </property>
</Properties>
</file>